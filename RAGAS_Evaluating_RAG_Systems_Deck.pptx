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4389120"/>
            <a:ext cx="3200400" cy="2286000"/>
          </a:xfrm>
          <a:prstGeom prst="ellipse">
            <a:avLst/>
          </a:prstGeom>
          <a:solidFill>
            <a:srgbClr val="CE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RAGAS: Evaluating RAG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554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0E7F3"/>
                </a:solidFill>
              </a:defRPr>
            </a:pPr>
            <a:r>
              <a:t>From DeepEval to Retrieval-Aware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176272"/>
            <a:ext cx="7498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1E1B4B"/>
                </a:solidFill>
              </a:defRPr>
            </a:pPr>
            <a:r>
              <a:t>How to evaluate not just answers, but the retrieval pipeline behind them.</a:t>
            </a:r>
          </a:p>
          <a:p>
            <a:pPr>
              <a:spcAft>
                <a:spcPts val="1000"/>
              </a:spcAft>
              <a:defRPr sz="2300">
                <a:solidFill>
                  <a:srgbClr val="1E1B4B"/>
                </a:solidFill>
              </a:defRPr>
            </a:pPr>
            <a:r>
              <a:t>Why this matters for production AI systems.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1772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61772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2E9AB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61772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F3C45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Generate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617720"/>
            <a:ext cx="1828800" cy="8229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Evaluate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0" y="5029200"/>
            <a:ext cx="27432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80" y="5029200"/>
            <a:ext cx="27432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5029200"/>
            <a:ext cx="27432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Recap: What We Did 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Evaluated LLM outputs using DeepEval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Metrics used: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Faithfulness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Relevance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Evaluation flow: Input -&gt; Output -&gt;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Problem with DeepEval in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DeepEval works well for pure LLM applications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RAG adds an extra moving part: retrieval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DeepEval cannot isolate root cause: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Was the context retrieved incorrectly?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Or did the model misuse good context?</a:t>
            </a:r>
          </a:p>
        </p:txBody>
      </p:sp>
      <p:sp>
        <p:nvSpPr>
          <p:cNvPr id="20" name="Cloud 19"/>
          <p:cNvSpPr/>
          <p:nvPr/>
        </p:nvSpPr>
        <p:spPr>
          <a:xfrm>
            <a:off x="7955279" y="2011680"/>
            <a:ext cx="3566160" cy="2743200"/>
          </a:xfrm>
          <a:prstGeom prst="cloud">
            <a:avLst/>
          </a:prstGeom>
          <a:solidFill>
            <a:srgbClr val="FFFAE8"/>
          </a:solidFill>
          <a:ln w="38100">
            <a:solidFill>
              <a:srgbClr val="E88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CC5D38"/>
                </a:solidFill>
              </a:defRPr>
            </a:pPr>
            <a:r>
              <a:t>Root Cause</a:t>
            </a:r>
          </a:p>
          <a:p>
            <a:r>
              <a:t>Ambiguity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What is RAG?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2E9AB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F3C45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Answer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2880360"/>
            <a:ext cx="36576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89120" y="2880360"/>
            <a:ext cx="36576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00800" y="2880360"/>
            <a:ext cx="36576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12480" y="2880360"/>
            <a:ext cx="36576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384048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1B4B"/>
                </a:solidFill>
              </a:defRPr>
            </a:pPr>
            <a:r>
              <a:t>Two failure points:</a:t>
            </a:r>
          </a:p>
          <a:p>
            <a:pPr lvl="1">
              <a:defRPr sz="1800">
                <a:solidFill>
                  <a:srgbClr val="64748B"/>
                </a:solidFill>
              </a:defRPr>
            </a:pPr>
            <a:r>
              <a:t>Retriever fails to fetch right evidence</a:t>
            </a:r>
          </a:p>
          <a:p>
            <a:pPr lvl="1">
              <a:defRPr sz="1800">
                <a:solidFill>
                  <a:srgbClr val="64748B"/>
                </a:solidFill>
              </a:defRPr>
            </a:pPr>
            <a:r>
              <a:t>LLM fails to use evidence correctly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What is RAGAS?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RAGAS = Retrieval Augmented Generation Assessment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Framework designed specifically for RAG evaluation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Evaluates retrieval quality and generation quality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Helps identify where the pipeline is weak</a:t>
            </a:r>
          </a:p>
        </p:txBody>
      </p:sp>
      <p:sp>
        <p:nvSpPr>
          <p:cNvPr id="20" name="Hexagon 19"/>
          <p:cNvSpPr/>
          <p:nvPr/>
        </p:nvSpPr>
        <p:spPr>
          <a:xfrm>
            <a:off x="8321040" y="2011680"/>
            <a:ext cx="2743200" cy="2743200"/>
          </a:xfrm>
          <a:prstGeom prst="hexagon">
            <a:avLst/>
          </a:prstGeom>
          <a:solidFill>
            <a:srgbClr val="E6F1F7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65A82"/>
                </a:solidFill>
              </a:defRPr>
            </a:pPr>
            <a:r>
              <a:t>RAGAS</a:t>
            </a:r>
          </a:p>
          <a:p>
            <a:r>
              <a:t>Pipeline</a:t>
            </a:r>
          </a:p>
          <a:p>
            <a:r>
              <a:t>Lens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DeepEval vs RAGAS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64592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E7ECFA"/>
          </a:solidFill>
          <a:ln w="381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4937760" cy="4389120"/>
          </a:xfrm>
          <a:prstGeom prst="roundRect">
            <a:avLst>
              <a:gd name="adj" fmla="val 8000"/>
            </a:avLst>
          </a:prstGeom>
          <a:solidFill>
            <a:srgbClr val="E5F6F1"/>
          </a:solidFill>
          <a:ln w="381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1828800"/>
            <a:ext cx="47548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95C"/>
                </a:solidFill>
              </a:defRPr>
            </a:pPr>
            <a:r>
              <a:t>DeepEval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Evaluates output quality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Input + Output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Strong for pure LLM apps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No retrieval awareness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4389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998B"/>
                </a:solidFill>
              </a:defRPr>
            </a:pPr>
            <a:r>
              <a:t>RAGAS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Evaluates full RAG pipeline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Question + Context + Answer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Retrieval + generation signals</a:t>
            </a:r>
          </a:p>
          <a:p>
            <a:pPr>
              <a:defRPr sz="1800">
                <a:solidFill>
                  <a:srgbClr val="1E1B4B"/>
                </a:solidFill>
              </a:defRPr>
            </a:pPr>
            <a:r>
              <a:t>• Designed for document-grounded 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Idea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920240"/>
            <a:ext cx="91440" cy="1600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192024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7ECFA"/>
          </a:solidFill>
          <a:ln w="28575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208483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1295C"/>
                </a:solidFill>
              </a:defRPr>
            </a:pPr>
            <a:r>
              <a:t>DeepEval asks: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Is the answer correct?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920240"/>
            <a:ext cx="91440" cy="1600200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9903" y="192024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2F4FA"/>
          </a:solidFill>
          <a:ln w="28575">
            <a:solidFill>
              <a:srgbClr val="2E9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08483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E9ABA"/>
                </a:solidFill>
              </a:defRPr>
            </a:pPr>
            <a:r>
              <a:t>RAGAS asks: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Is the answer correct and grounded in the right documents?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RAGAS Metrics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645920"/>
            <a:ext cx="91440" cy="1600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164592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7ECFA"/>
          </a:solidFill>
          <a:ln w="28575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181051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1295C"/>
                </a:solidFill>
              </a:defRPr>
            </a:pPr>
            <a:r>
              <a:t>1) Faithfulness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Answer aligns with retrieved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645920"/>
            <a:ext cx="91440" cy="1600200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9903" y="164592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2F4FA"/>
          </a:solidFill>
          <a:ln w="28575">
            <a:solidFill>
              <a:srgbClr val="2E9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81051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E9ABA"/>
                </a:solidFill>
              </a:defRPr>
            </a:pPr>
            <a:r>
              <a:t>2) Answer Relevance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Answer directly addresses user intent.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474720"/>
            <a:ext cx="91440" cy="1600200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" y="347472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FFFAE8"/>
          </a:solidFill>
          <a:ln w="28575">
            <a:solidFill>
              <a:srgbClr val="F3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63931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3C453"/>
                </a:solidFill>
              </a:defRPr>
            </a:pPr>
            <a:r>
              <a:t>3) Context Precision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Retrieved context is mostly useful.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474720"/>
            <a:ext cx="91440" cy="16002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89903" y="347472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5F6F1"/>
          </a:solidFill>
          <a:ln w="28575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63931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998B"/>
                </a:solidFill>
              </a:defRPr>
            </a:pPr>
            <a:r>
              <a:t>4) Context Recall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Retrieved context covers needed 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Metric 1: Faithfulness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Checks whether claims are supported by context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Low score often indicates hallucination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Improvement tips: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Constrain model to cite context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Tune prompts to avoid unsupported additions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Metric 2: Answer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Measures if answer actually addresses the question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Useful for detecting generic or off-topic responses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Improvement tips: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Improve query understanding / reformulation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Use stricter answer 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Metric 3: Context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How much retrieved context is relevant?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Low precision means noisy chunks are retrieved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Improvement tips: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Better chunking and embeddings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Reranking to remove weak matches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Metric 4: Context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Did retriever fetch all necessary evidence?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Low recall means important facts were missed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Improvement tips: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Expand top-k or hybrid retrieval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Improve metadata filters and query expansion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Pipeline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2880360"/>
            <a:ext cx="36576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65A82"/>
                </a:solidFill>
              </a:defRPr>
            </a:pPr>
            <a:r>
              <a:t>DeepEval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2E9AB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F3C45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46888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Answer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0" y="2880360"/>
            <a:ext cx="27432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0" y="2880360"/>
            <a:ext cx="274320" cy="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60720" y="18288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E9ABA"/>
                </a:solidFill>
              </a:defRPr>
            </a:pPr>
            <a:r>
              <a:t>RAGAS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Code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Install required packages: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pip install ragas datasets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Optional: pandas, matplotlib for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783080"/>
            <a:ext cx="3886200" cy="3246120"/>
          </a:xfrm>
          <a:prstGeom prst="roundRect">
            <a:avLst>
              <a:gd name="adj" fmla="val 6000"/>
            </a:avLst>
          </a:prstGeom>
          <a:solidFill>
            <a:srgbClr val="19224F"/>
          </a:solidFill>
          <a:ln w="317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1B998B"/>
                </a:solidFill>
                <a:latin typeface="Courier New"/>
              </a:defRPr>
            </a:pPr>
            <a:r>
              <a:t>$ pip install ragas datasets</a:t>
            </a:r>
          </a:p>
          <a:p>
            <a:pPr>
              <a:defRPr sz="1800">
                <a:solidFill>
                  <a:srgbClr val="1B998B"/>
                </a:solidFill>
                <a:latin typeface="Courier New"/>
              </a:defRPr>
            </a:pPr>
            <a:r>
              <a:t>$ python eval.py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Dataset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173736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19224F"/>
          </a:solidFill>
          <a:ln w="31750">
            <a:solidFill>
              <a:srgbClr val="2E9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C4EAF6"/>
                </a:solidFill>
                <a:latin typeface="Courier New"/>
              </a:defRPr>
            </a:pPr>
            <a:r>
              <a:t>{</a:t>
            </a:r>
          </a:p>
          <a:p>
            <a:pPr>
              <a:defRPr sz="2000">
                <a:solidFill>
                  <a:srgbClr val="C4EAF6"/>
                </a:solidFill>
                <a:latin typeface="Courier New"/>
              </a:defRPr>
            </a:pPr>
            <a:r>
              <a:t>  "question": [],</a:t>
            </a:r>
          </a:p>
          <a:p>
            <a:pPr>
              <a:defRPr sz="2000">
                <a:solidFill>
                  <a:srgbClr val="C4EAF6"/>
                </a:solidFill>
                <a:latin typeface="Courier New"/>
              </a:defRPr>
            </a:pPr>
            <a:r>
              <a:t>  "answer": [],</a:t>
            </a:r>
          </a:p>
          <a:p>
            <a:pPr>
              <a:defRPr sz="2000">
                <a:solidFill>
                  <a:srgbClr val="C4EAF6"/>
                </a:solidFill>
                <a:latin typeface="Courier New"/>
              </a:defRPr>
            </a:pPr>
            <a:r>
              <a:t>  "contexts": [],</a:t>
            </a:r>
          </a:p>
          <a:p>
            <a:pPr>
              <a:defRPr sz="2000">
                <a:solidFill>
                  <a:srgbClr val="C4EAF6"/>
                </a:solidFill>
                <a:latin typeface="Courier New"/>
              </a:defRPr>
            </a:pPr>
            <a:r>
              <a:t>  "ground_truth": []</a:t>
            </a:r>
          </a:p>
          <a:p>
            <a:pPr>
              <a:defRPr sz="2000">
                <a:solidFill>
                  <a:srgbClr val="C4EAF6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B4B"/>
                </a:solidFill>
              </a:defRPr>
            </a:pPr>
            <a:r>
              <a:t>Each row represents one QA evaluation sample</a:t>
            </a:r>
          </a:p>
          <a:p>
            <a:pPr>
              <a:spcAft>
                <a:spcPts val="1000"/>
              </a:spcAft>
              <a:defRPr sz="1800">
                <a:solidFill>
                  <a:srgbClr val="1E1B4B"/>
                </a:solidFill>
              </a:defRPr>
            </a:pPr>
            <a:r>
              <a:t>contexts is typically a list of retrieved chunks</a:t>
            </a:r>
          </a:p>
          <a:p>
            <a:pPr>
              <a:spcAft>
                <a:spcPts val="1000"/>
              </a:spcAft>
              <a:defRPr sz="1800">
                <a:solidFill>
                  <a:srgbClr val="1E1B4B"/>
                </a:solidFill>
              </a:defRPr>
            </a:pPr>
            <a:r>
              <a:t>ground_truth is used for recall-oriented checks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Mapping from DeepEval to RAGAS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828800"/>
            <a:ext cx="91440" cy="1600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" y="182880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7ECFA"/>
          </a:solidFill>
          <a:ln w="28575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199339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1295C"/>
                </a:solidFill>
              </a:defRPr>
            </a:pPr>
            <a:r>
              <a:t>DeepEval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LLMTestCase(input, output)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91440" cy="16002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" y="365760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5F6F1"/>
          </a:solidFill>
          <a:ln w="28575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3822191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998B"/>
                </a:solidFill>
              </a:defRPr>
            </a:pPr>
            <a:r>
              <a:t>RAGAS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question, answer, contexts (+ ground_truth)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API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Collect answer and retrieved passages together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Store both for each question in evaluation dataset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7315200" cy="3017520"/>
          </a:xfrm>
          <a:prstGeom prst="roundRect">
            <a:avLst>
              <a:gd name="adj" fmla="val 6000"/>
            </a:avLst>
          </a:prstGeom>
          <a:solidFill>
            <a:srgbClr val="19224F"/>
          </a:solidFill>
          <a:ln w="317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C4EAF6"/>
                </a:solidFill>
                <a:latin typeface="Courier New"/>
              </a:defRPr>
            </a:pPr>
            <a:r>
              <a:t>response = requests.post("/retrieve", json={"query": q}).json()</a:t>
            </a:r>
          </a:p>
          <a:p>
            <a:pPr>
              <a:defRPr sz="1600">
                <a:solidFill>
                  <a:srgbClr val="C4EAF6"/>
                </a:solidFill>
                <a:latin typeface="Courier New"/>
              </a:defRPr>
            </a:pPr>
            <a:r>
              <a:t>answer = response["answer"]</a:t>
            </a:r>
          </a:p>
          <a:p>
            <a:pPr>
              <a:defRPr sz="1600">
                <a:solidFill>
                  <a:srgbClr val="C4EAF6"/>
                </a:solidFill>
                <a:latin typeface="Courier New"/>
              </a:defRPr>
            </a:pPr>
            <a:r>
              <a:t>contexts = response["context"]</a:t>
            </a:r>
          </a:p>
          <a:p>
            <a:pPr>
              <a:defRPr sz="1600">
                <a:solidFill>
                  <a:srgbClr val="C4EAF6"/>
                </a:solidFill>
                <a:latin typeface="Courier New"/>
              </a:defRPr>
            </a:pPr>
            <a:r>
              <a:t>row = {"question": q, "answer": answer, "contexts": contexts}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3017520"/>
            <a:ext cx="2194560" cy="8229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931920"/>
            <a:ext cx="2194560" cy="822960"/>
          </a:xfrm>
          <a:prstGeom prst="roundRect">
            <a:avLst>
              <a:gd name="adj" fmla="val 15000"/>
            </a:avLst>
          </a:prstGeom>
          <a:solidFill>
            <a:srgbClr val="2E9AB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Retrieve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4846320"/>
            <a:ext cx="2194560" cy="822960"/>
          </a:xfrm>
          <a:prstGeom prst="roundRect">
            <a:avLst>
              <a:gd name="adj" fmla="val 15000"/>
            </a:avLst>
          </a:prstGeom>
          <a:solidFill>
            <a:srgbClr val="1B998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Dataset Row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92640" y="3794760"/>
            <a:ext cx="0" cy="13716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40" y="4709160"/>
            <a:ext cx="0" cy="137160"/>
          </a:xfrm>
          <a:prstGeom prst="line">
            <a:avLst/>
          </a:prstGeom>
          <a:ln w="444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Dataset Conversion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920240"/>
            <a:ext cx="10241280" cy="2926080"/>
          </a:xfrm>
          <a:prstGeom prst="roundRect">
            <a:avLst>
              <a:gd name="adj" fmla="val 6000"/>
            </a:avLst>
          </a:prstGeom>
          <a:solidFill>
            <a:srgbClr val="19224F"/>
          </a:solidFill>
          <a:ln w="317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>
                <a:solidFill>
                  <a:srgbClr val="C4EAF6"/>
                </a:solidFill>
                <a:latin typeface="Courier New"/>
              </a:defRPr>
            </a:pPr>
            <a:r>
              <a:t>from datasets import Dataset</a:t>
            </a:r>
          </a:p>
          <a:p>
            <a:pPr>
              <a:defRPr sz="2400">
                <a:solidFill>
                  <a:srgbClr val="C4EAF6"/>
                </a:solidFill>
                <a:latin typeface="Courier New"/>
              </a:defRPr>
            </a:pPr>
          </a:p>
          <a:p>
            <a:pPr>
              <a:defRPr sz="2400">
                <a:solidFill>
                  <a:srgbClr val="C4EAF6"/>
                </a:solidFill>
                <a:latin typeface="Courier New"/>
              </a:defRPr>
            </a:pPr>
            <a:r>
              <a:t>dataset = Dataset.from_dict(data)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B4B"/>
                </a:solidFill>
              </a:defRPr>
            </a:pPr>
            <a:r>
              <a:t>Tip: Validate equal list lengths before conversion.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Select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645920"/>
            <a:ext cx="7406640" cy="4297680"/>
          </a:xfrm>
          <a:prstGeom prst="roundRect">
            <a:avLst>
              <a:gd name="adj" fmla="val 6000"/>
            </a:avLst>
          </a:prstGeom>
          <a:solidFill>
            <a:srgbClr val="19224F"/>
          </a:solidFill>
          <a:ln w="31750">
            <a:solidFill>
              <a:srgbClr val="F3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900">
                <a:solidFill>
                  <a:srgbClr val="C4EAF6"/>
                </a:solidFill>
                <a:latin typeface="Courier New"/>
              </a:defRPr>
            </a:pPr>
            <a:r>
              <a:t>from ragas.metrics import (</a:t>
            </a:r>
          </a:p>
          <a:p>
            <a:pPr>
              <a:defRPr sz="1900">
                <a:solidFill>
                  <a:srgbClr val="C4EAF6"/>
                </a:solidFill>
                <a:latin typeface="Courier New"/>
              </a:defRPr>
            </a:pPr>
            <a:r>
              <a:t>    faithfulness,</a:t>
            </a:r>
          </a:p>
          <a:p>
            <a:pPr>
              <a:defRPr sz="1900">
                <a:solidFill>
                  <a:srgbClr val="C4EAF6"/>
                </a:solidFill>
                <a:latin typeface="Courier New"/>
              </a:defRPr>
            </a:pPr>
            <a:r>
              <a:t>    answer_relevancy,</a:t>
            </a:r>
          </a:p>
          <a:p>
            <a:pPr>
              <a:defRPr sz="1900">
                <a:solidFill>
                  <a:srgbClr val="C4EAF6"/>
                </a:solidFill>
                <a:latin typeface="Courier New"/>
              </a:defRPr>
            </a:pPr>
            <a:r>
              <a:t>    context_precision,</a:t>
            </a:r>
          </a:p>
          <a:p>
            <a:pPr>
              <a:defRPr sz="1900">
                <a:solidFill>
                  <a:srgbClr val="C4EAF6"/>
                </a:solidFill>
                <a:latin typeface="Courier New"/>
              </a:defRPr>
            </a:pPr>
            <a:r>
              <a:t>    context_recall</a:t>
            </a:r>
          </a:p>
          <a:p>
            <a:pPr>
              <a:defRPr sz="1900">
                <a:solidFill>
                  <a:srgbClr val="C4EAF6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28800"/>
            <a:ext cx="91440" cy="1600200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67344" y="182880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2F4FA"/>
          </a:solidFill>
          <a:ln w="28575">
            <a:solidFill>
              <a:srgbClr val="2E9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1" y="199339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E9ABA"/>
                </a:solidFill>
              </a:defRPr>
            </a:pPr>
            <a:r>
              <a:t>Practical Set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Start with all 4 metrics for debugging.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749039"/>
            <a:ext cx="91440" cy="16002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67344" y="3749039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5F6F1"/>
          </a:solidFill>
          <a:ln w="28575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1" y="3913631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998B"/>
                </a:solidFill>
              </a:defRPr>
            </a:pPr>
            <a:r>
              <a:t>For Monitoring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Track trends over time in CI/CD.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Run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828800"/>
            <a:ext cx="7223760" cy="2834640"/>
          </a:xfrm>
          <a:prstGeom prst="roundRect">
            <a:avLst>
              <a:gd name="adj" fmla="val 6000"/>
            </a:avLst>
          </a:prstGeom>
          <a:solidFill>
            <a:srgbClr val="19224F"/>
          </a:solidFill>
          <a:ln w="317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300">
                <a:solidFill>
                  <a:srgbClr val="C4EAF6"/>
                </a:solidFill>
                <a:latin typeface="Courier New"/>
              </a:defRPr>
            </a:pPr>
            <a:r>
              <a:t>from ragas import evaluate</a:t>
            </a:r>
          </a:p>
          <a:p>
            <a:pPr>
              <a:defRPr sz="2300">
                <a:solidFill>
                  <a:srgbClr val="C4EAF6"/>
                </a:solidFill>
                <a:latin typeface="Courier New"/>
              </a:defRPr>
            </a:pPr>
          </a:p>
          <a:p>
            <a:pPr>
              <a:defRPr sz="2300">
                <a:solidFill>
                  <a:srgbClr val="C4EAF6"/>
                </a:solidFill>
                <a:latin typeface="Courier New"/>
              </a:defRPr>
            </a:pPr>
            <a:r>
              <a:t>result = evaluate(dataset, metrics=[...])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B4B"/>
                </a:solidFill>
              </a:defRPr>
            </a:pPr>
            <a:r>
              <a:t>Best practice: Evaluate on representative user queries</a:t>
            </a:r>
          </a:p>
          <a:p>
            <a:pPr>
              <a:spcAft>
                <a:spcPts val="1000"/>
              </a:spcAft>
              <a:defRPr sz="1700">
                <a:solidFill>
                  <a:srgbClr val="1E1B4B"/>
                </a:solidFill>
              </a:defRPr>
            </a:pPr>
            <a:r>
              <a:t>Automate this in nightly or release pipelines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Output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Scores are usually between 0 and 1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Higher is better, but compare by use case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Look for metric imbalance to diagnose issues: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Low recall + high faithfulness = retrieval gap</a:t>
            </a:r>
          </a:p>
          <a:p>
            <a:pPr lvl="1">
              <a:defRPr sz="2000">
                <a:solidFill>
                  <a:srgbClr val="64748B"/>
                </a:solidFill>
              </a:defRPr>
            </a:pPr>
            <a:r>
              <a:t>High recall + low faithfulness = generation issue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Example Walkthrough (Good Case)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737360"/>
            <a:ext cx="91440" cy="1600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173736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7ECFA"/>
          </a:solidFill>
          <a:ln w="28575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190195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1295C"/>
                </a:solidFill>
              </a:defRPr>
            </a:pPr>
            <a:r>
              <a:t>Question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What is the capital of France?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91440" cy="1600200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47472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2F4FA"/>
          </a:solidFill>
          <a:ln w="28575">
            <a:solidFill>
              <a:srgbClr val="2E9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63931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E9ABA"/>
                </a:solidFill>
              </a:defRPr>
            </a:pPr>
            <a:r>
              <a:t>Context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France's capital city is Paris...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937760"/>
            <a:ext cx="91440" cy="16002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" y="493776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5F6F1"/>
          </a:solidFill>
          <a:ln w="28575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10235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998B"/>
                </a:solidFill>
              </a:defRPr>
            </a:pPr>
            <a:r>
              <a:t>Answer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Paris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011680"/>
            <a:ext cx="4937760" cy="3566160"/>
          </a:xfrm>
          <a:prstGeom prst="roundRect">
            <a:avLst>
              <a:gd name="adj" fmla="val 10000"/>
            </a:avLst>
          </a:prstGeom>
          <a:solidFill>
            <a:srgbClr val="E5F6F1"/>
          </a:solidFill>
          <a:ln w="3810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1B998B"/>
                </a:solidFill>
              </a:defRPr>
            </a:pPr>
            <a:r>
              <a:t>Scores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Faithfulness: 0.98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Answer Relevance: 0.99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Context Precision: 0.96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Context Recall: 0.97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Failure Example (Bad Retrieval)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737360"/>
            <a:ext cx="91440" cy="1600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173736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7ECFA"/>
          </a:solidFill>
          <a:ln w="28575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190195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1295C"/>
                </a:solidFill>
              </a:defRPr>
            </a:pPr>
            <a:r>
              <a:t>Question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What is the capital of France?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91440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47472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FDEFE9"/>
          </a:solidFill>
          <a:ln w="285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63931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EF4444"/>
                </a:solidFill>
              </a:defRPr>
            </a:pPr>
            <a:r>
              <a:t>Wrong Context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Berlin is the capital of Germany...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937760"/>
            <a:ext cx="91440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" y="493776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FDEFE9"/>
          </a:solidFill>
          <a:ln w="285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10235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EF4444"/>
                </a:solidFill>
              </a:defRPr>
            </a:pPr>
            <a:r>
              <a:t>Answer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Berlin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011680"/>
            <a:ext cx="4937760" cy="3566160"/>
          </a:xfrm>
          <a:prstGeom prst="roundRect">
            <a:avLst>
              <a:gd name="adj" fmla="val 10000"/>
            </a:avLst>
          </a:prstGeom>
          <a:solidFill>
            <a:srgbClr val="FDEFE9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Scores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Faithfulness: 0.20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Answer Relevance: 0.75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Context Precision: 0.15</a:t>
            </a:r>
          </a:p>
          <a:p>
            <a:pPr>
              <a:defRPr sz="1700" b="0">
                <a:solidFill>
                  <a:srgbClr val="1E1B4B"/>
                </a:solidFill>
              </a:defRPr>
            </a:pPr>
            <a:r>
              <a:t>Context Recall: 0.35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Teaching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920240"/>
            <a:ext cx="91440" cy="1600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" y="192024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7ECFA"/>
          </a:solidFill>
          <a:ln w="28575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208483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21295C"/>
                </a:solidFill>
              </a:defRPr>
            </a:pPr>
            <a:r>
              <a:t>DeepEval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Great for output-only evaluation in LLM apps.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840480"/>
            <a:ext cx="91440" cy="1600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" y="3840480"/>
            <a:ext cx="5376672" cy="1600200"/>
          </a:xfrm>
          <a:prstGeom prst="roundRect">
            <a:avLst>
              <a:gd name="adj" fmla="val 12000"/>
            </a:avLst>
          </a:prstGeom>
          <a:solidFill>
            <a:srgbClr val="E6F1F7"/>
          </a:solidFill>
          <a:ln w="28575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005072"/>
            <a:ext cx="4983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C7293"/>
                </a:solidFill>
              </a:defRPr>
            </a:pPr>
            <a:r>
              <a:t>RAGAS</a:t>
            </a:r>
          </a:p>
          <a:p>
            <a:pPr>
              <a:defRPr sz="1500">
                <a:solidFill>
                  <a:srgbClr val="1E1B4B"/>
                </a:solidFill>
              </a:defRPr>
            </a:pPr>
            <a:r>
              <a:t>Essential when retrieval quality affects outcomes.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Final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8961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If your system uses documents, evaluate with RAGAS.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If your app is pure LLM generation, DeepEval may be enough.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In mature systems, use both for full visibility.</a:t>
            </a:r>
          </a:p>
        </p:txBody>
      </p:sp>
      <p:sp>
        <p:nvSpPr>
          <p:cNvPr id="20" name="5-Point Star 19"/>
          <p:cNvSpPr/>
          <p:nvPr/>
        </p:nvSpPr>
        <p:spPr>
          <a:xfrm>
            <a:off x="9235440" y="2194560"/>
            <a:ext cx="2286000" cy="2286000"/>
          </a:xfrm>
          <a:prstGeom prst="star5">
            <a:avLst/>
          </a:prstGeom>
          <a:solidFill>
            <a:srgbClr val="1C7293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Use the</a:t>
            </a:r>
          </a:p>
          <a:p>
            <a:r>
              <a:t>right tool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182880"/>
            <a:ext cx="2560320" cy="2560320"/>
          </a:xfrm>
          <a:prstGeom prst="ellipse">
            <a:avLst/>
          </a:prstGeom>
          <a:solidFill>
            <a:srgbClr val="E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822960"/>
            <a:ext cx="1828800" cy="1828800"/>
          </a:xfrm>
          <a:prstGeom prst="ellipse">
            <a:avLst/>
          </a:prstGeom>
          <a:solidFill>
            <a:srgbClr val="D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029200"/>
            <a:ext cx="2011680" cy="2011680"/>
          </a:xfrm>
          <a:prstGeom prst="ellipse">
            <a:avLst/>
          </a:prstGeom>
          <a:solidFill>
            <a:srgbClr val="E5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2050237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1949" y="6784848"/>
            <a:ext cx="2050237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784848"/>
            <a:ext cx="2050237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6784848"/>
            <a:ext cx="2050237" cy="73152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84848"/>
            <a:ext cx="2050237" cy="7315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59746" y="6784848"/>
            <a:ext cx="2050237" cy="73152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050237" cy="12801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31949" y="0"/>
            <a:ext cx="2050237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0"/>
            <a:ext cx="2050237" cy="12801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5847" y="0"/>
            <a:ext cx="2050237" cy="128016"/>
          </a:xfrm>
          <a:prstGeom prst="rect">
            <a:avLst/>
          </a:prstGeom>
          <a:solidFill>
            <a:srgbClr val="2E9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0"/>
            <a:ext cx="2050237" cy="128016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59746" y="0"/>
            <a:ext cx="2050237" cy="128016"/>
          </a:xfrm>
          <a:prstGeom prst="rect">
            <a:avLst/>
          </a:prstGeom>
          <a:solidFill>
            <a:srgbClr val="F3C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481328"/>
            <a:ext cx="9052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Build a small RAG system on a topic of your choice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Evaluate it using all 4 RAGAS metrics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Also run DeepEval on final answers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Compare findings and identify main bottleneck</a:t>
            </a:r>
          </a:p>
          <a:p>
            <a:pPr>
              <a:spcAft>
                <a:spcPts val="1000"/>
              </a:spcAft>
              <a:defRPr sz="2400">
                <a:solidFill>
                  <a:srgbClr val="1E1B4B"/>
                </a:solidFill>
              </a:defRPr>
            </a:pPr>
            <a:r>
              <a:t>Deliverable: short report + metric screenshots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011680"/>
            <a:ext cx="3291840" cy="3291840"/>
          </a:xfrm>
          <a:prstGeom prst="roundRect">
            <a:avLst>
              <a:gd name="adj" fmla="val 12000"/>
            </a:avLst>
          </a:prstGeom>
          <a:solidFill>
            <a:srgbClr val="E2F4FA"/>
          </a:solidFill>
          <a:ln w="38100">
            <a:solidFill>
              <a:srgbClr val="2E9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65A82"/>
                </a:solidFill>
              </a:defRPr>
            </a:pPr>
            <a:r>
              <a:t>Bonus:</a:t>
            </a:r>
          </a:p>
          <a:p>
            <a:pPr algn="ctr">
              <a:defRPr b="1" sz="1800">
                <a:solidFill>
                  <a:srgbClr val="065A82"/>
                </a:solidFill>
              </a:defRPr>
            </a:pPr>
            <a:r>
              <a:t>Try hybrid</a:t>
            </a:r>
          </a:p>
          <a:p>
            <a:pPr algn="ctr">
              <a:defRPr b="1" sz="1800">
                <a:solidFill>
                  <a:srgbClr val="065A82"/>
                </a:solidFill>
              </a:defRPr>
            </a:pPr>
            <a:r>
              <a:t>retrieval</a:t>
            </a:r>
          </a:p>
          <a:p>
            <a:pPr algn="ctr">
              <a:defRPr b="1" sz="1800">
                <a:solidFill>
                  <a:srgbClr val="065A82"/>
                </a:solidFill>
              </a:defRPr>
            </a:pPr>
            <a:r>
              <a:t>(BM25 +</a:t>
            </a:r>
          </a:p>
          <a:p>
            <a:pPr algn="ctr">
              <a:defRPr b="1" sz="1800">
                <a:solidFill>
                  <a:srgbClr val="065A82"/>
                </a:solidFill>
              </a:defRPr>
            </a:pPr>
            <a:r>
              <a:t>embeddings)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